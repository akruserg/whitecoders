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Montserra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Montserrat"/>
              </a:rPr>
              <a:t>p95 времени отклика (норма ТЗ ≤ 2 с)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отклика, с</c:v>
                </c:pt>
              </c:strCache>
            </c:strRef>
          </c:tx>
          <c:spPr>
            <a:solidFill>
              <a:srgbClr val="FC377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 пользователей</c:v>
                  </c:pt>
                  <c:pt idx="1">
                    <c:v>100, подключение 15 с</c:v>
                  </c:pt>
                  <c:pt idx="2">
                    <c:v>100, вход в 1 секунду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0.14</c:v>
                </c:pt>
                <c:pt idx="1">
                  <c:v>0.56</c:v>
                </c:pt>
                <c:pt idx="2">
                  <c:v>2.43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4D6EE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B4C8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4D6EE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Пункты ТЗ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005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A83D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D6E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D9D2E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Montserra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Реализовано полностью</c:v>
                </c:pt>
                <c:pt idx="1">
                  <c:v>Реализовано частично</c:v>
                </c:pt>
                <c:pt idx="2">
                  <c:v>Вне зоны бэкенда</c:v>
                </c:pt>
                <c:pt idx="3">
                  <c:v>Не реализовано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131</c:v>
                </c:pt>
                <c:pt idx="1">
                  <c:v>43</c:v>
                </c:pt>
                <c:pt idx="2">
                  <c:v>13</c:v>
                </c:pt>
                <c:pt idx="3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1D22"/>
              </a:solidFill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1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12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D6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КОНКУРС ЛУЧШИХ ИТ-РЕШЕНИЙ · ЛИДЕРЫ ЦИФРОВОЙ ТРАНСФОРМАЦИИ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Учебный симулятор подготовки диспетчеров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экстренных служб города по вызовам от системы 112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АРМ-112 · Команда WhiteCoders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C7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Сочи · 29.09.2026 · github.com/akruserg/WhiteCoders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C377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Задача и команда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75488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 КОМАНДЕ И РЕШЕНИИ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212080" cy="4846320"/>
          </a:xfrm>
          <a:prstGeom prst="roundRect">
            <a:avLst>
              <a:gd name="adj" fmla="val 2264"/>
            </a:avLst>
          </a:prstGeom>
          <a:solidFill>
            <a:srgbClr val="5209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 команде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D6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Капитан: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Акимов Руслан Сергеевич, full-stack разработка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D6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Количество участников: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человек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06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D6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Город и регион: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Сочи, Краснодарский край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1663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D6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образовалась команда: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Объединились для участия в ЛЦТ 2026 вокруг задачи цифровизации городских служб — состав закрывает дизайн, бэкенд и фронтенд разработки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Краткое описание решения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5394960" cy="0"/>
          </a:xfrm>
          <a:prstGeom prst="line">
            <a:avLst/>
          </a:prstGeom>
          <a:noFill/>
          <a:ln w="12700">
            <a:solidFill>
              <a:srgbClr val="D8C7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488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АРМ-112 — тренажёр для обучения операторов дежурно-диспетчерских служб (ДДС) работе с системой-112: обучающийся принимает учебный звонок, заполняет карточку происшествия, а система автоматически сравнивает действия с эталоном и оценивает по полям, порядку действий, времени и оформлению.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4069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Уникальность решения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26480" y="4480560"/>
            <a:ext cx="5394960" cy="0"/>
          </a:xfrm>
          <a:prstGeom prst="line">
            <a:avLst/>
          </a:prstGeom>
          <a:noFill/>
          <a:ln w="12700">
            <a:solidFill>
              <a:srgbClr val="D8C7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46634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Полностью изолированный контур: локальная нейросеть генерирует и озвучивает сценарии (TTS+STT — живой голосовой диалог с заявителем), автоматическая оценка по 4 критериям, обезличивание и аудит с защитой от подмены — без единого обращения во внешние сети.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WHITECODERS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84832" cy="4709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" y="1828800"/>
            <a:ext cx="822960" cy="822960"/>
          </a:xfrm>
          <a:prstGeom prst="ellipse">
            <a:avLst/>
          </a:prstGeom>
          <a:solidFill>
            <a:srgbClr val="FFD6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8136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834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Руслан Акимов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5204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Капитан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93192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Full-stack разработка, связка фронтенда с API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66928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Сочи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06624" y="1417320"/>
            <a:ext cx="2084832" cy="4709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828800"/>
            <a:ext cx="822960" cy="822960"/>
          </a:xfrm>
          <a:prstGeom prst="ellipse">
            <a:avLst/>
          </a:prstGeom>
          <a:solidFill>
            <a:srgbClr val="FFD6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3756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843784" y="2834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Александра Демяненко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843784" y="35204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Участник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43784" y="393192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Администрирование Linux и сетей, контроль качества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43784" y="566928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Сочи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56048" y="1417320"/>
            <a:ext cx="2084832" cy="4709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586984" y="1828800"/>
            <a:ext cx="822960" cy="822960"/>
          </a:xfrm>
          <a:prstGeom prst="ellipse">
            <a:avLst/>
          </a:prstGeom>
          <a:solidFill>
            <a:srgbClr val="FFD6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586984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АК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093208" y="2834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Александра Кривулина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093208" y="35204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Участник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93208" y="393192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Веб-дизайн (Figma), веб-разработка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93208" y="566928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Сочи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05472" y="1417320"/>
            <a:ext cx="2084832" cy="4709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836408" y="1828800"/>
            <a:ext cx="822960" cy="822960"/>
          </a:xfrm>
          <a:prstGeom prst="ellipse">
            <a:avLst/>
          </a:prstGeom>
          <a:solidFill>
            <a:srgbClr val="FFD6E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36408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ВГ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342632" y="2834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Владимир Гончарук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342632" y="35204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Участник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42632" y="393192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Бэкенд-разработка, БД, информационная безопасность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42632" y="566928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Сочи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54896" y="1417320"/>
            <a:ext cx="2084832" cy="4709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85832" y="1828800"/>
            <a:ext cx="822960" cy="822960"/>
          </a:xfrm>
          <a:prstGeom prst="ellipse">
            <a:avLst/>
          </a:prstGeom>
          <a:solidFill>
            <a:srgbClr val="FFD6E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085832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592056" y="2834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Олеся Станкевич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9592056" y="35204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Участник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592056" y="393192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Фронтенд-разработка, UI/UX, фирменный стиль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592056" y="566928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93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Сочи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КРАТКАЯ ИСТОРИЯ КОМАНДЫ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D8C7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0" y="15361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00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собрались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из Сочи, объединившая дизайн, бэкенд- и фронтенд-разработку, собралась специально под «Лидеров цифровой трансформации 2026».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64240" cy="0"/>
          </a:xfrm>
          <a:prstGeom prst="line">
            <a:avLst/>
          </a:prstGeom>
          <a:noFill/>
          <a:ln w="12700">
            <a:solidFill>
              <a:srgbClr val="D8C7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0" y="32278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00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выбрали эту задачу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49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Тренажёр для ДДС — редкий шанс сделать продукт с реальной социальной пользой: качественная подготовка операторов экстренных служб напрямую влияет на скорость и точность помощи людям.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64240" cy="0"/>
          </a:xfrm>
          <a:prstGeom prst="line">
            <a:avLst/>
          </a:prstGeom>
          <a:noFill/>
          <a:ln w="12700">
            <a:solidFill>
              <a:srgbClr val="D8C7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0" y="49194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00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834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какими сложностями столкнулись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40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Разработка велась без стенда с Docker (Asterisk, локальная LLM подняты только частично), на слабом железе для нагрузочных тестов, и с синхронизацией репозитория через iCloud, которая периодически блокировала git. Голосовой диалог (TTS+STT) дописывали в последнюю ночь.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93192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КОРОТКО О РЕШЕНИИ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Техническая суть решения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Flask/FastAPI-бэкенд (127 REST-маршрутов, JSON/XML) + PostgreSQL 16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Локальная LLM (YandexGPT-5-Lite-8B, llama.cpp) генерирует и корректирует сценарии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Голосовой канал: Asterisk (SIP/WebRTC) + Piper TTS и faster-whisper STT — живой диалог с заявителем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Автоматическая оценка карточки: поля, порядок действий, норматив времени, орфография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RBAC, аудит с хэш-цепочкой, обезличивание по 152-ФЗ, TLS-контур без внешних сетей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7373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Маркетинговая суть решения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Замена дорогого и рискованного обучения «на живых вызовах» безопасным изолированным тренажёром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Объективная, повторяемая оценка вместо субъективного контроля наставника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Готовая база: 1281 тип происшествий официального классификатора, шаблон карточки АРМ-112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Легко тиражируется на другие ДДС и экстренные службы города и региона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Аттестация с сертификатами — встраивается в существующий процесс допуска к работе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212080" cy="566928"/>
          </a:xfrm>
          <a:prstGeom prst="roundRect">
            <a:avLst>
              <a:gd name="adj" fmla="val 19355"/>
            </a:avLst>
          </a:prstGeom>
          <a:solidFill>
            <a:srgbClr val="5209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ПОДРОБНОЕ ОПИСАНИЕ РЕШЕНИЯ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АРМ-112 воспроизводит рабочее место оператора системы-112 в изолированном учебном контуре: обучающийся принимает звонок (голосом или текстом), ведёт диалог с виртуальным заявителем, заполняет карточку происшествия, а система сверяет действия с эталоном сценария.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066544" cy="502920"/>
          </a:xfrm>
          <a:prstGeom prst="roundRect">
            <a:avLst>
              <a:gd name="adj" fmla="val 50909"/>
            </a:avLst>
          </a:prstGeom>
          <a:solidFill>
            <a:srgbClr val="5209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429000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Преподаватель создаёт занятие и запускает его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69464" y="26974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3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98064" y="2743200"/>
            <a:ext cx="2066544" cy="502920"/>
          </a:xfrm>
          <a:prstGeom prst="roundRect">
            <a:avLst>
              <a:gd name="adj" fmla="val 50909"/>
            </a:avLst>
          </a:prstGeom>
          <a:solidFill>
            <a:srgbClr val="5209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98064" y="274320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52344" y="3429000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Обучающийся получает сценарий, лимит времени и прогноз балла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26974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3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47488" y="2743200"/>
            <a:ext cx="2066544" cy="502920"/>
          </a:xfrm>
          <a:prstGeom prst="roundRect">
            <a:avLst>
              <a:gd name="adj" fmla="val 50909"/>
            </a:avLst>
          </a:prstGeom>
          <a:solidFill>
            <a:srgbClr val="5209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47488" y="274320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01768" y="3429000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Принимает вызов — стартует норматив времени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068312" y="26974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3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96912" y="2743200"/>
            <a:ext cx="2066544" cy="502920"/>
          </a:xfrm>
          <a:prstGeom prst="roundRect">
            <a:avLst>
              <a:gd name="adj" fmla="val 50909"/>
            </a:avLst>
          </a:prstGeom>
          <a:solidFill>
            <a:srgbClr val="5209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96912" y="274320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51192" y="3429000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Ведёт карточку и диалог с заявителем, сохраняет черновик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317736" y="26974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3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46336" y="2743200"/>
            <a:ext cx="2066544" cy="502920"/>
          </a:xfrm>
          <a:prstGeom prst="roundRect">
            <a:avLst>
              <a:gd name="adj" fmla="val 50909"/>
            </a:avLst>
          </a:prstGeom>
          <a:solidFill>
            <a:srgbClr val="FF005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46336" y="274320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500616" y="3429000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Отправляет карточку — мгновенная оценка по полям, порядку и времени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Границы: реальные вызовы не обрабатываются, боевая система-112 не подключается, все компоненты работают в локальном контуре без выхода во внешние сети.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РОЛИ И ФУНКЦИИ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52097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611880" cy="274320"/>
          </a:xfrm>
          <a:prstGeom prst="rect">
            <a:avLst/>
          </a:prstGeom>
          <a:solidFill>
            <a:srgbClr val="52097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Администратор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Учётки, роли, блокировки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Мониторинг и настройки системы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Бэкапы и журнал аудита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видит результаты обучающихся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41732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FF005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920240"/>
            <a:ext cx="3611880" cy="274320"/>
          </a:xfrm>
          <a:prstGeom prst="rect">
            <a:avLst/>
          </a:prstGeom>
          <a:solidFill>
            <a:srgbClr val="FF005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1417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Преподаватель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Сценарии и генерация ИИ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Занятия, мониторинг, аттестация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Экспертная оценка карточек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Отчёты, инсайты, сертификаты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1417320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8A83D1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920240"/>
            <a:ext cx="3611880" cy="274320"/>
          </a:xfrm>
          <a:prstGeom prst="rect">
            <a:avLst/>
          </a:prstGeom>
          <a:solidFill>
            <a:srgbClr val="8A83D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38160" y="14173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Обучающийся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37744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Приём учебного вызова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Заполнение карточки происшествия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Свой прогресс и разбор ошибок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Справочная база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30936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МАРКЕТИНГОВАЯ И БИЗНЕСОВАЯ ЧАСТЬ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Кому нужно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ГБУ «Система 112» и дежурно-диспетчерские службы города Москвы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Учебные центры, готовящие операторов ДДС и экстренных служб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Смежные службы: Гормост, жилищные службы, другие городские ДДС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Регионы, тиражирующие практику Москвы на своих ДДС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7373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Ценность и масштабирование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28600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Ниже стоимость подготовки: не нужен риск «учиться на реальных вызовах»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Быстрее выход новых операторов на норматив (объективная оценка сразу)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Горизонтальный кластер узлов API — выдерживает рост числа обучающихся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Пакетное обновление контента и настроек без остановки системы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Архитектура готова к переносу на другие города и типы служб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21208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ТЕХНИЧЕСКАЯ ПРОРАБОТКА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34540" y="1554480"/>
            <a:ext cx="640080" cy="640080"/>
          </a:xfrm>
          <a:prstGeom prst="ellipse">
            <a:avLst/>
          </a:prstGeom>
          <a:solidFill>
            <a:srgbClr val="FF005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345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arm_api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+ PostgreSQL 16. Бизнес-логика, 127 REST-маршрутов JSON/XML, RBAC, аудит, оценка, отчёты, бэкапы.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29300" y="1554480"/>
            <a:ext cx="640080" cy="640080"/>
          </a:xfrm>
          <a:prstGeom prst="ellipse">
            <a:avLst/>
          </a:prstGeom>
          <a:solidFill>
            <a:srgbClr val="FF005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293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43400" y="24231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arm_voip + Asterisk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632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+ SIP/WebRTC. Пул номеров, звук сценария, голосовой диалог (Piper TTS, faster-whisper STT).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24060" y="1554480"/>
            <a:ext cx="640080" cy="640080"/>
          </a:xfrm>
          <a:prstGeom prst="ellipse">
            <a:avLst/>
          </a:prstGeom>
          <a:solidFill>
            <a:srgbClr val="FF005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240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38160" y="242316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06324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llama.cpp + YandexGPT-5-Lite-8B локально. Генерация и коррекция сценариев, смысловая проверка ответов.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Хранение: PostgreSQL 16, 27 моделей данных. Формат обмена: JSON (основной), XML (настройки/АРМ), CSV/XLSX/PDF (отчёты). Целостность: хэш-цепочка аудита, контрольные суммы бэкапов. Горизонтальное масштабирование: равноправные узлы arm_api на одной БД.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03504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РЕЗУЛЬТАТЫ НАГРУЗОЧНОГО ТЕСТИРОВАНИЯ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64008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06640" y="1554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349 запросов/с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C7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 20 пользователях, ошибок 0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3700–5000 транзакций/с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3246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C7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запись в БД (норма ≥ 100 оп/с)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≤ 11,4 с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C7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отчёт по 20 676 карточкам (норма ≤ 30 с)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406640" y="5394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79F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Замеры на заведомо слабом стенде (8 ядер, 8 ГБ ОЗУ) — существенно ниже требований ТЗ к серверу.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38912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СВЕРКА РЕАЛИЗАЦИИ С ТЗ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188 пунктов технического задания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37744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00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131 (70%) — реализовано полностью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A83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 (23%) — реализовано частично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(7%) — вне зоны ответственности бэкенда (фронтенд, дизайн)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B23A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(0,5%) — не реализовано: обезличенные выгрузки системы-112, решение за заказчиком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50292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A55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Автоматические тесты: 166 (arm_api) + 41 (arm_voip) + 13 (голосовой модуль). Линтеры (black, flake8) чистые. Сквозные проверки на реальной PostgreSQL 16 — без сбоев.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УНИКАЛЬНОСТЬ РЕШЕНИЯ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82296" cy="1417320"/>
          </a:xfrm>
          <a:prstGeom prst="rect">
            <a:avLst/>
          </a:prstGeom>
          <a:solidFill>
            <a:srgbClr val="FC37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554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Живой голосовой диалог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4767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TTS+STT: речь оператора → распознавание → реплика заявителя от ИИ → синтез речи — не просто текстовый чат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417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17320"/>
            <a:ext cx="82296" cy="1417320"/>
          </a:xfrm>
          <a:prstGeom prst="rect">
            <a:avLst/>
          </a:prstGeom>
          <a:solidFill>
            <a:srgbClr val="FC377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Полностью локальный ИИ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4767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YandexGPT-5-Lite-8B через llama.cpp внутри контура — без единого обращения к облачным 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971800"/>
            <a:ext cx="82296" cy="1417320"/>
          </a:xfrm>
          <a:prstGeom prst="rect">
            <a:avLst/>
          </a:prstGeom>
          <a:solidFill>
            <a:srgbClr val="FC377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108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Автооценка по 4 критериям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5021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Поля карточки, порядок действий, норматив времени, оформление и орфография — без участия человека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971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2971800"/>
            <a:ext cx="82296" cy="1417320"/>
          </a:xfrm>
          <a:prstGeom prst="rect">
            <a:avLst/>
          </a:prstGeom>
          <a:solidFill>
            <a:srgbClr val="FC377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3108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Защищённый аудит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5021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Хэш-цепочка записей журнала обнаруживает любую скрытую подмену или удаление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526280"/>
            <a:ext cx="82296" cy="1417320"/>
          </a:xfrm>
          <a:prstGeom prst="rect">
            <a:avLst/>
          </a:prstGeom>
          <a:solidFill>
            <a:srgbClr val="FC377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663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Официальный классификатор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05663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1281 тип происшествий из действующего документа v046.11 — не абстрактный список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4526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0760" y="4526280"/>
            <a:ext cx="82296" cy="1417320"/>
          </a:xfrm>
          <a:prstGeom prst="rect">
            <a:avLst/>
          </a:prstGeom>
          <a:solidFill>
            <a:srgbClr val="FC377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4663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152-ФЗ по умолчанию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505663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Согласие, обезличивание учётных записей и отчётов встроены в API, а не добавлены поверх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480560" cy="566928"/>
          </a:xfrm>
          <a:prstGeom prst="roundRect">
            <a:avLst>
              <a:gd name="adj" fmla="val 19355"/>
            </a:avLst>
          </a:prstGeom>
          <a:solidFill>
            <a:srgbClr val="FF005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ПЛАНЫ ПО РАЗВИТИЮ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356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Прогон на целевом стенде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43560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Docker: Asterisk, локальная LLM, nginx TLS — сейчас проверено на уровне конфигурации и тестов с подменой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A83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682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Нагрузка и задержка голоса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368296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 замеров на сервере уровня ТЗ (6+ ядер, 32 ГБ), измерение задержки VoIP (норма ≤ 150 мс) на живом Asterisk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009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Доработки 152-ФЗ/149-ФЗ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300984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Расширенное согласие, отзыв и уничтожение данных, выгрузка «моих данных», журналирование чтения ПДн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A83D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33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Браузерный софтфон (JsSIP)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23367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голосовой канал на фронтенде вместо текстового чата поверх звонка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05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166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09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на реальных группах ДДС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1663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D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Опытная эксплуатация с обратной связью преподавателей перед тиражированием на другие города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Спасибо за внимание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D6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АРМ-112 · Учебный симулятор подготовки диспетчеров экстренных служб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D6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WhiteCoders · Лидеры цифровой трансформации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Репозиторий: github.com/akruserg/WhiteCoders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2026-09-29T15:20:57Z</dcterms:created>
  <dcterms:modified xsi:type="dcterms:W3CDTF">2026-09-29T15:20:57Z</dcterms:modified>
</cp:coreProperties>
</file>
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Montserrat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Montserrat"/>
              </a:rPr>
              <a:t>p95 времени отклика (норма ТЗ ≤ 2 с)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p95 отклика, с</c:v>
                </c:pt>
              </c:strCache>
            </c:strRef>
          </c:tx>
          <c:spPr>
            <a:solidFill>
              <a:srgbClr val="FC3777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 пользователей</c:v>
                  </c:pt>
                  <c:pt idx="1">
                    <c:v>100, подключение 15 с</c:v>
                  </c:pt>
                  <c:pt idx="2">
                    <c:v>100, вход в 1 секунду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</c:v>
                </c:pt>
                <c:pt idx="1">
                  <c:v>0.56</c:v>
                </c:pt>
                <c:pt idx="2">
                  <c:v>2.43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E4D6EE"/>
                </a:solidFill>
                <a:latin typeface="Montserra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6B4C86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4D6EE"/>
                </a:solidFill>
                <a:latin typeface="Montserra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Пункты ТЗ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0053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A83D1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FFD6E4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3"/>
            <c:bubble3D val="0"/>
            <c:spPr>
              <a:solidFill>
                <a:srgbClr val="D9D2E8"/>
              </a:solidFill>
              <a:ln w="254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Montserra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Montserra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Montserra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Montserrat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Реализовано полностью</c:v>
                </c:pt>
                <c:pt idx="1">
                  <c:v>Реализовано частично</c:v>
                </c:pt>
                <c:pt idx="2">
                  <c:v>Вне зоны бэкенда</c:v>
                </c:pt>
                <c:pt idx="3">
                  <c:v>Не реализовано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131</c:v>
                </c:pt>
                <c:pt idx="1">
                  <c:v>43</c:v>
                </c:pt>
                <c:pt idx="2">
                  <c:v>13</c:v>
                </c:pt>
                <c:pt idx="3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C1D22"/>
              </a:solidFill>
              <a:latin typeface="Montserrat"/>
              <a:cs typeface="Montserra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image" Target="../media/image-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1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Slide-12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488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D6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КОНКУРС ЛУЧШИХ ИТ-РЕШЕНИЙ · ЛИДЕРЫ ЦИФРОВОЙ ТРАНСФОРМАЦИИ 2026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0604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Учебный симулятор подготовки диспетчеров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экстренных служб города по вызовам от системы 112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4348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АРМ-112 · Команда WhiteCoders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C7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Сочи · 29.09.2026 · github.com/akruserg/WhiteCoders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4688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C377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Задача и команда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75488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 КОМАНДЕ И РЕШЕНИИ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212080" cy="4846320"/>
          </a:xfrm>
          <a:prstGeom prst="roundRect">
            <a:avLst>
              <a:gd name="adj" fmla="val 2264"/>
            </a:avLst>
          </a:prstGeom>
          <a:solidFill>
            <a:srgbClr val="52097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45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 команде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D6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Акимов Руслан Сергеевич, full-stack разработка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461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D6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Количество участников: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человек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062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D6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Город и регион: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Сочи, Краснодарский край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1663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D6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образовалась команда: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Объединились для участия в ЛЦТ 2026 вокруг задачи цифровизации городских служб — состав закрывает дизайн, бэкенд и фронтенд разработки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5544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Краткое описание решения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126480" y="1965960"/>
            <a:ext cx="5394960" cy="0"/>
          </a:xfrm>
          <a:prstGeom prst="line">
            <a:avLst/>
          </a:prstGeom>
          <a:noFill/>
          <a:ln w="12700">
            <a:solidFill>
              <a:srgbClr val="D8C7E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21488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АРМ-112 — тренажёр для обучения операторов дежурно-диспетчерских служб (ДДС) работе с системой-112: обучающийся принимает учебный звонок, заполняет карточку происшествия, а система автоматически сравнивает действия с эталоном и оценивает по полям, порядку действий, времени и оформлению.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406908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Уникальность решения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126480" y="4480560"/>
            <a:ext cx="5394960" cy="0"/>
          </a:xfrm>
          <a:prstGeom prst="line">
            <a:avLst/>
          </a:prstGeom>
          <a:noFill/>
          <a:ln w="12700">
            <a:solidFill>
              <a:srgbClr val="D8C7E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26480" y="466344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Полностью изолированный контур: локальная нейросеть генерирует и озвучивает сценарии (TTS+STT — живой голосовой диалог с заявителем), автоматическая оценка по 4 критериям, обезличивание и аудит с защитой от подмены — без единого обращения во внешние сети.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WHITECODERS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084832" cy="470916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</p:sp>
      <p:pic>
        <p:nvPicPr>
          <p:cNvPr id="5" name="Image 0" descr="/Users/ruslanakimov/Desktop/LCT/photos/crops/akimo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1737360"/>
            <a:ext cx="822960" cy="82296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283464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Руслан Акимов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352044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Капитан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3931920"/>
            <a:ext cx="18105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Full-stack разработка, связка фронтенда с API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566928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Сочи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706624" y="1417320"/>
            <a:ext cx="2084832" cy="470916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</p:sp>
      <p:pic>
        <p:nvPicPr>
          <p:cNvPr id="11" name="Image 1" descr="/Users/ruslanakimov/Desktop/LCT/photos/crops/demyanenko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737360"/>
            <a:ext cx="822960" cy="822960"/>
          </a:xfrm>
          <a:prstGeom prst="ellipse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43784" y="283464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Александра Демяненко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2843784" y="352044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843784" y="3931920"/>
            <a:ext cx="18105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Администрирование Linux и сетей, контроль качества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2843784" y="566928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Сочи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956048" y="1417320"/>
            <a:ext cx="2084832" cy="470916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</p:sp>
      <p:pic>
        <p:nvPicPr>
          <p:cNvPr id="17" name="Image 2" descr="/Users/ruslanakimov/Desktop/LCT/photos/crops/krivulin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6984" y="1737360"/>
            <a:ext cx="822960" cy="822960"/>
          </a:xfrm>
          <a:prstGeom prst="ellipse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93208" y="283464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Александра Кривулина</a:t>
            </a:r>
            <a:endParaRPr lang="en-US" sz="1350" dirty="0"/>
          </a:p>
        </p:txBody>
      </p:sp>
      <p:sp>
        <p:nvSpPr>
          <p:cNvPr id="19" name="Text 14"/>
          <p:cNvSpPr txBox="1"/>
          <p:nvPr/>
        </p:nvSpPr>
        <p:spPr>
          <a:xfrm>
            <a:off x="5093208" y="352044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5093208" y="3931920"/>
            <a:ext cx="18105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Веб-дизайн (Figma), веб-разработка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5093208" y="566928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Сочи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205472" y="1417320"/>
            <a:ext cx="2084832" cy="470916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</p:sp>
      <p:pic>
        <p:nvPicPr>
          <p:cNvPr id="23" name="Image 3" descr="/Users/ruslanakimov/Desktop/LCT/photos/crops/goncharu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6408" y="1737360"/>
            <a:ext cx="822960" cy="822960"/>
          </a:xfrm>
          <a:prstGeom prst="ellipse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42632" y="283464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Владимир Гончарук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7342632" y="352044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</a:t>
            </a:r>
            <a:endParaRPr lang="en-US" sz="1100" dirty="0"/>
          </a:p>
        </p:txBody>
      </p:sp>
      <p:sp>
        <p:nvSpPr>
          <p:cNvPr id="26" name="Text 20"/>
          <p:cNvSpPr txBox="1"/>
          <p:nvPr/>
        </p:nvSpPr>
        <p:spPr>
          <a:xfrm>
            <a:off x="7342632" y="3931920"/>
            <a:ext cx="18105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Бэкенд-разработка, БД, информационная безопасность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7342632" y="566928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Сочи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9454896" y="1417320"/>
            <a:ext cx="2084832" cy="4709160"/>
          </a:xfrm>
          <a:prstGeom prst="roundRect">
            <a:avLst>
              <a:gd name="adj" fmla="val 4386"/>
            </a:avLst>
          </a:prstGeom>
          <a:solidFill>
            <a:srgbClr val="FFFFFF"/>
          </a:solidFill>
          <a:ln/>
        </p:spPr>
      </p:sp>
      <p:pic>
        <p:nvPicPr>
          <p:cNvPr id="29" name="Image 4" descr="/Users/ruslanakimov/Desktop/LCT/photos/crops/stankevich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737360"/>
            <a:ext cx="822960" cy="822960"/>
          </a:xfrm>
          <a:prstGeom prst="ellipse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592056" y="2834640"/>
            <a:ext cx="18105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Олеся Станкевич</a:t>
            </a:r>
            <a:endParaRPr lang="en-US" sz="1350" dirty="0"/>
          </a:p>
        </p:txBody>
      </p:sp>
      <p:sp>
        <p:nvSpPr>
          <p:cNvPr id="31" name="Text 24"/>
          <p:cNvSpPr txBox="1"/>
          <p:nvPr/>
        </p:nvSpPr>
        <p:spPr>
          <a:xfrm>
            <a:off x="9592056" y="352044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Участник</a:t>
            </a:r>
            <a:endParaRPr lang="en-US" sz="1100" dirty="0"/>
          </a:p>
        </p:txBody>
      </p:sp>
      <p:sp>
        <p:nvSpPr>
          <p:cNvPr id="32" name="Text 25"/>
          <p:cNvSpPr txBox="1"/>
          <p:nvPr/>
        </p:nvSpPr>
        <p:spPr>
          <a:xfrm>
            <a:off x="9592056" y="3931920"/>
            <a:ext cx="18105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Фронтенд-разработка, UI/UX, фирменный стиль</a:t>
            </a:r>
            <a:endParaRPr lang="en-US" sz="1050" dirty="0"/>
          </a:p>
        </p:txBody>
      </p:sp>
      <p:sp>
        <p:nvSpPr>
          <p:cNvPr id="33" name="Text 26"/>
          <p:cNvSpPr txBox="1"/>
          <p:nvPr/>
        </p:nvSpPr>
        <p:spPr>
          <a:xfrm>
            <a:off x="9592056" y="5669280"/>
            <a:ext cx="1810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A93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Сочи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12064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КРАТКАЯ ИСТОРИЯ КОМАНДЫ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1064240" cy="0"/>
          </a:xfrm>
          <a:prstGeom prst="line">
            <a:avLst/>
          </a:prstGeom>
          <a:noFill/>
          <a:ln w="12700">
            <a:solidFill>
              <a:srgbClr val="D8C7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0" y="15361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Как собрались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из Сочи, объединившая дизайн, бэкенд- и фронтенд-разработку, собралась специально под «Лидеров цифровой трансформации 2026».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3154680"/>
            <a:ext cx="11064240" cy="0"/>
          </a:xfrm>
          <a:prstGeom prst="line">
            <a:avLst/>
          </a:prstGeom>
          <a:noFill/>
          <a:ln w="12700">
            <a:solidFill>
              <a:srgbClr val="D8C7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0" y="32278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29184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Почему выбрали эту задачу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74904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Тренажёр для ДДС — редкий шанс сделать продукт с реальной социальной пользой: качественная подготовка операторов экстренных служб напрямую влияет на скорость и точность помощи людям.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11064240" cy="0"/>
          </a:xfrm>
          <a:prstGeom prst="line">
            <a:avLst/>
          </a:prstGeom>
          <a:noFill/>
          <a:ln w="12700">
            <a:solidFill>
              <a:srgbClr val="D8C7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0" y="491947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9834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 какими сложностями столкнулись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велась без стенда с Docker (Asterisk, локальная LLM подняты только частично), на слабом железе для нагрузочных тестов, и с синхронизацией репозитория через iCloud, которая периодически блокировала git. Голосовой диалог (TTS+STT) дописывали в последнюю ночь.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93192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КОРОТКО О РЕШЕНИИ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Техническая суть решения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86000"/>
            <a:ext cx="4709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Flask/FastAPI-бэкенд (127 REST-маршрутов, JSON/XML) + PostgreSQL 16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Локальная LLM (YandexGPT-5-Lite-8B, llama.cpp) генерирует и корректирует сценарии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Голосовой канал: Asterisk (SIP/WebRTC) + Piper TTS и faster-whisper STT — живой диалог с заявителем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Автоматическая оценка карточки: поля, порядок действий, норматив времени, орфография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RBAC, аудит с хэш-цепочкой, обезличивание по 152-ФЗ, TLS-контур без внешних сетей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4924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7373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Маркетинговая суть решения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286000"/>
            <a:ext cx="4709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Замена дорогого и рискованного обучения «на живых вызовах» безопасным изолированным тренажёром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Объективная, повторяемая оценка вместо субъективного контроля наставника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Готовая база: 1281 тип происшествий официального классификатора, шаблон карточки АРМ-112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Легко тиражируется на другие ДДС и экстренные службы города и региона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Аттестация с сертификатами — встраивается в существующий процесс допуска к работе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212080" cy="566928"/>
          </a:xfrm>
          <a:prstGeom prst="roundRect">
            <a:avLst>
              <a:gd name="adj" fmla="val 19355"/>
            </a:avLst>
          </a:prstGeom>
          <a:solidFill>
            <a:srgbClr val="5209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ПОДРОБНОЕ ОПИСАНИЕ РЕШЕНИЯ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АРМ-112 воспроизводит рабочее место оператора системы-112 в изолированном учебном контуре: обучающийся принимает звонок (голосом или текстом), ведёт диалог с виртуальным заявителем, заполняет карточку происшествия, а система сверяет действия с эталоном сценария.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066544" cy="502920"/>
          </a:xfrm>
          <a:prstGeom prst="roundRect">
            <a:avLst>
              <a:gd name="adj" fmla="val 50909"/>
            </a:avLst>
          </a:prstGeom>
          <a:solidFill>
            <a:srgbClr val="52097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74320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3429000"/>
            <a:ext cx="2157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Преподаватель создаёт занятие и запускает его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569464" y="26974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83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798064" y="2743200"/>
            <a:ext cx="2066544" cy="502920"/>
          </a:xfrm>
          <a:prstGeom prst="roundRect">
            <a:avLst>
              <a:gd name="adj" fmla="val 50909"/>
            </a:avLst>
          </a:prstGeom>
          <a:solidFill>
            <a:srgbClr val="52097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798064" y="274320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752344" y="3429000"/>
            <a:ext cx="2157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Обучающийся получает сценарий, лимит времени и прогноз балла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818888" y="26974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83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047488" y="2743200"/>
            <a:ext cx="2066544" cy="502920"/>
          </a:xfrm>
          <a:prstGeom prst="roundRect">
            <a:avLst>
              <a:gd name="adj" fmla="val 50909"/>
            </a:avLst>
          </a:prstGeom>
          <a:solidFill>
            <a:srgbClr val="52097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47488" y="274320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01768" y="3429000"/>
            <a:ext cx="2157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Принимает вызов — стартует норматив времени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068312" y="26974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83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296912" y="2743200"/>
            <a:ext cx="2066544" cy="502920"/>
          </a:xfrm>
          <a:prstGeom prst="roundRect">
            <a:avLst>
              <a:gd name="adj" fmla="val 50909"/>
            </a:avLst>
          </a:prstGeom>
          <a:solidFill>
            <a:srgbClr val="52097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96912" y="274320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251192" y="3429000"/>
            <a:ext cx="2157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Ведёт карточку и диалог с заявителем, сохраняет черновик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317736" y="26974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A83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546336" y="2743200"/>
            <a:ext cx="2066544" cy="502920"/>
          </a:xfrm>
          <a:prstGeom prst="roundRect">
            <a:avLst>
              <a:gd name="adj" fmla="val 50909"/>
            </a:avLst>
          </a:prstGeom>
          <a:solidFill>
            <a:srgbClr val="FF005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546336" y="2743200"/>
            <a:ext cx="20665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500616" y="3429000"/>
            <a:ext cx="2157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Отправляет карточку — мгновенная оценка по полям, порядку и времени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Границы: реальные вызовы не обрабатываются, боевая система-112 не подключается, все компоненты работают в локальном контуре без выхода во внешние сети.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365760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РОЛИ И ФУНКЦИИ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611880" cy="4754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3611880" cy="777240"/>
          </a:xfrm>
          <a:prstGeom prst="roundRect">
            <a:avLst>
              <a:gd name="adj" fmla="val 14118"/>
            </a:avLst>
          </a:prstGeom>
          <a:solidFill>
            <a:srgbClr val="52097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920240"/>
            <a:ext cx="3611880" cy="274320"/>
          </a:xfrm>
          <a:prstGeom prst="rect">
            <a:avLst/>
          </a:prstGeom>
          <a:solidFill>
            <a:srgbClr val="52097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4173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Администратор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Учётки, роли, блокировки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Мониторинг и настройки системы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Бэкапы и журнал аудита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видит результаты обучающихся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417320"/>
            <a:ext cx="3611880" cy="4754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4343400" y="1417320"/>
            <a:ext cx="3611880" cy="777240"/>
          </a:xfrm>
          <a:prstGeom prst="roundRect">
            <a:avLst>
              <a:gd name="adj" fmla="val 14118"/>
            </a:avLst>
          </a:prstGeom>
          <a:solidFill>
            <a:srgbClr val="FF0053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20240"/>
            <a:ext cx="3611880" cy="274320"/>
          </a:xfrm>
          <a:prstGeom prst="rect">
            <a:avLst/>
          </a:prstGeom>
          <a:solidFill>
            <a:srgbClr val="FF005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43400" y="14173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Преподаватель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37744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Сценарии и генерация ИИ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Занятия, мониторинг, аттестация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Экспертная оценка карточек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Отчёты, инсайты, сертификаты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38160" y="1417320"/>
            <a:ext cx="3611880" cy="4754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8138160" y="1417320"/>
            <a:ext cx="3611880" cy="777240"/>
          </a:xfrm>
          <a:prstGeom prst="roundRect">
            <a:avLst>
              <a:gd name="adj" fmla="val 14118"/>
            </a:avLst>
          </a:prstGeom>
          <a:solidFill>
            <a:srgbClr val="8A83D1"/>
          </a:solidFill>
          <a:ln/>
        </p:spPr>
      </p:sp>
      <p:sp>
        <p:nvSpPr>
          <p:cNvPr id="16" name="Shape 14"/>
          <p:cNvSpPr/>
          <p:nvPr/>
        </p:nvSpPr>
        <p:spPr>
          <a:xfrm>
            <a:off x="8138160" y="1920240"/>
            <a:ext cx="3611880" cy="274320"/>
          </a:xfrm>
          <a:prstGeom prst="rect">
            <a:avLst/>
          </a:prstGeom>
          <a:solidFill>
            <a:srgbClr val="8A83D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38160" y="141732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Обучающийся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2377440"/>
            <a:ext cx="3063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Приём учебного вызова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Заполнение карточки происшествия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Свой прогресс и разбор ошибок</a:t>
            </a:r>
            <a:endParaRPr lang="en-US" sz="1250" dirty="0"/>
          </a:p>
          <a:p>
            <a:pPr marL="177800" indent="-1778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Справочная база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30936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6309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МАРКЕТИНГОВАЯ И БИЗНЕСОВАЯ ЧАСТЬ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7373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Кому нужно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286000"/>
            <a:ext cx="4709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ГБУ «Система 112» и дежурно-диспетчерские службы города Москвы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Учебные центры, готовящие операторов ДДС и экстренных служб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Смежные службы: Гормост, жилищные службы, другие городские ДДС</a:t>
            </a:r>
            <a:endParaRPr lang="en-US" sz="12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Регионы, тиражирующие практику Москвы на своих ДДС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417320"/>
            <a:ext cx="534924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0" y="17373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Ценность и масштабирование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583680" y="2286000"/>
            <a:ext cx="4709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Ниже стоимость подготовки: не нужен риск «учиться на реальных вызовах»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Быстрее выход новых операторов на норматив (объективная оценка сразу)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Горизонтальный кластер узлов API — выдерживает рост числа обучающихся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Пакетное обновление контента и настроек без остановки системы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Архитектура готова к переносу на другие города и типы служб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21208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ТЕХНИЧЕСКАЯ ПРОРАБОТКА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034540" y="1554480"/>
            <a:ext cx="640080" cy="640080"/>
          </a:xfrm>
          <a:prstGeom prst="ellipse">
            <a:avLst/>
          </a:prstGeom>
          <a:solidFill>
            <a:srgbClr val="FF005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03454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36118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51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arm_api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06324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Flask + PostgreSQL 16. Бизнес-логика, 127 REST-маршрутов JSON/XML, RBAC, аудит, оценка, отчёты, бэкапы.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829300" y="1554480"/>
            <a:ext cx="640080" cy="640080"/>
          </a:xfrm>
          <a:prstGeom prst="ellipse">
            <a:avLst/>
          </a:prstGeom>
          <a:solidFill>
            <a:srgbClr val="FF005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2930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43400" y="2423160"/>
            <a:ext cx="36118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0" y="2651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arm_voip + Asterisk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06324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FastAPI + SIP/WebRTC. Пул номеров, звук сценария, голосовой диалог (Piper TTS, faster-whisper STT).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624060" y="1554480"/>
            <a:ext cx="640080" cy="640080"/>
          </a:xfrm>
          <a:prstGeom prst="ellipse">
            <a:avLst/>
          </a:prstGeom>
          <a:solidFill>
            <a:srgbClr val="FF005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24060" y="1554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38160" y="2423160"/>
            <a:ext cx="361188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2651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063240"/>
            <a:ext cx="3154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llama.cpp + YandexGPT-5-Lite-8B локально. Генерация и коррекция сценариев, смысловая проверка ответов.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548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Хранение: PostgreSQL 16, 27 моделей данных. Формат обмена: JSON (основной), XML (настройки/АРМ), CSV/XLSX/PDF (отчёты). Целостность: хэш-цепочка аудита, контрольные суммы бэкапов. Горизонтальное масштабирование: равноправные узлы arm_api на одной БД.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03504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РЕЗУЛЬТАТЫ НАГРУЗОЧНОГО ТЕСТИРОВАНИЯ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17320"/>
          <a:ext cx="64008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06640" y="15544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349 запросов/с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406640" y="20116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C7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20 пользователях, ошибок 0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7406640" y="2788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3700–5000 транзакций/с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3246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C7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запись в БД (норма ≥ 100 оп/с)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≤ 11,4 с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44805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8C7E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отчёт по 20 676 карточкам (норма ≤ 30 с)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406640" y="53949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B79FC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Замеры на заведомо слабом стенде (8 ядер, 8 ГБ ОЗУ) — существенно ниже требований ТЗ к серверу.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38912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4389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СВЕРКА РЕАЛИЗАЦИИ С ТЗ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548640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0" y="173736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188 пунктов технического задания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2377440"/>
            <a:ext cx="5212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b="1" dirty="0">
                <a:solidFill>
                  <a:srgbClr val="FF005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131 (70%) — реализовано полностью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A83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43 (23%) — реализовано частично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 (7%) — вне зоны ответственности бэкенда (фронтенд, дизайн)
</a:t>
            </a:r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B23A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(0,5%) — не реализовано: обезличенные выгрузки системы-112, решение за заказчиком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50292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A556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Автоматические тесты: 166 (arm_api) + 41 (arm_voip) + 13 (голосовой модуль). Линтеры (black, flake8) чистые. Сквозные проверки на реальной PostgreSQL 16 — без сбоев.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502920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 · УНИКАЛЬНОСТЬ РЕШЕНИЯ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17320"/>
            <a:ext cx="82296" cy="1417320"/>
          </a:xfrm>
          <a:prstGeom prst="rect">
            <a:avLst/>
          </a:prstGeom>
          <a:solidFill>
            <a:srgbClr val="FC377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15544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Живой голосовой диалог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94767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TTS+STT: речь оператора → распознавание → реплика заявителя от ИИ → синтез речи — не просто текстовый чат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80760" y="141732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080760" y="1417320"/>
            <a:ext cx="82296" cy="1417320"/>
          </a:xfrm>
          <a:prstGeom prst="rect">
            <a:avLst/>
          </a:prstGeom>
          <a:solidFill>
            <a:srgbClr val="FC377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0" y="15544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Полностью локальный ИИ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94767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YandexGPT-5-Lite-8B через llama.cpp внутри контура — без единого обращения к облачным API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971800"/>
            <a:ext cx="82296" cy="1417320"/>
          </a:xfrm>
          <a:prstGeom prst="rect">
            <a:avLst/>
          </a:prstGeom>
          <a:solidFill>
            <a:srgbClr val="FC377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3108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Автооценка по 4 критериям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5021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Поля карточки, порядок действий, норматив времени, оформление и орфография — без участия человека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297180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080760" y="2971800"/>
            <a:ext cx="82296" cy="1417320"/>
          </a:xfrm>
          <a:prstGeom prst="rect">
            <a:avLst/>
          </a:prstGeom>
          <a:solidFill>
            <a:srgbClr val="FC377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0" y="310896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Защищённый аудит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35021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Хэш-цепочка записей журнала обнаруживает любую скрытую подмену или удаление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52628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526280"/>
            <a:ext cx="82296" cy="1417320"/>
          </a:xfrm>
          <a:prstGeom prst="rect">
            <a:avLst/>
          </a:prstGeom>
          <a:solidFill>
            <a:srgbClr val="FC377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68680" y="4663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Официальный классификатор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0566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1281 тип происшествий из действующего документа v046.11 — не абстрактный список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4526280"/>
            <a:ext cx="534924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080760" y="4526280"/>
            <a:ext cx="82296" cy="1417320"/>
          </a:xfrm>
          <a:prstGeom prst="rect">
            <a:avLst/>
          </a:prstGeom>
          <a:solidFill>
            <a:srgbClr val="FC377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00800" y="466344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152-ФЗ по умолчанию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505663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Согласие, обезличивание учётных записей и отчётов встроены в API, а не добавлены поверх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4480560" cy="566928"/>
          </a:xfrm>
          <a:prstGeom prst="roundRect">
            <a:avLst>
              <a:gd name="adj" fmla="val 19355"/>
            </a:avLst>
          </a:prstGeom>
          <a:solidFill>
            <a:srgbClr val="FF005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5720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 · ПЛАНЫ ПО РАЗВИТИЮ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356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Прогон на целевом стенде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435608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Docker: Asterisk, локальная LLM, nginx TLS — сейчас проверено на уровне конфигурации и тестов с подменой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39572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8A83D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395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36829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Нагрузка и задержка голоса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368296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замеров на сервере уровня ТЗ (6+ ядер, 32 ГБ), измерение задержки VoIP (норма ≤ 150 мс) на живом Asterisk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3284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3009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Доработки 152-ФЗ/149-ФЗ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00984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Расширенное согласие, отзыв и уничтожение данных, выгрузка «моих данных», журналирование чтения ПДн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26110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8A83D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61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423367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Браузерный софтфон (JsSIP)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33672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Полный голосовой канал на фронтенде вместо текстового чата поверх звонка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F005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16636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209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Пилот на реальных группах ДДС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66360"/>
            <a:ext cx="6126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D2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Опытная эксплуатация с обратной связью преподавателей перед тиражированием на другие города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Спасибо за внимание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D6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АРМ-112 · Учебный симулятор подготовки диспетчеров экстренных служб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D6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Команда WhiteCoders · Лидеры цифровой трансформации 2026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754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Репозиторий: github.com/akruserg/WhiteCoders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2026-09-29T15:31:36Z</dcterms:created>
  <dcterms:modified xsi:type="dcterms:W3CDTF">2026-09-29T15:31:36Z</dcterms:modified>
</cp:coreProperties>
</file>